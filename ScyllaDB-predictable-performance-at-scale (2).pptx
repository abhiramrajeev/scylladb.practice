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embeddedFontLst>
    <p:embeddedFont>
      <p:font typeface="Hanken Grotesk"/>
      <p:regular r:id="rId201314"/>
    </p:embeddedFont>
    <p:embeddedFont>
      <p:font typeface="Hanken Grotesk SemiBold"/>
      <p:regular r:id="rId201315"/>
    </p:embeddedFont>
    <p:embeddedFont>
      <p:font typeface="Hanken Grotesk Bold"/>
      <p:regular r:id="rId201316"/>
    </p:embeddedFont>
    <p:embeddedFont>
      <p:font typeface="Urbanist"/>
      <p:regular r:id="rId201317"/>
    </p:embeddedFont>
    <p:embeddedFont>
      <p:font typeface="Urbanis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write path top to bottom, then the read path. The point: writes never update in place, so reads must check several places and compaction keeps that bounded.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3B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3B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29" y="1677353"/>
            <a:ext cx="877548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DBMS CASE STUDY 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57229" y="2029718"/>
            <a:ext cx="8165896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ScyllaDB: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predictable performance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at scale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857229" y="5873055"/>
            <a:ext cx="877548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query-driven wide-column database for data-intensive, low-latency workloads.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7229" y="5690949"/>
            <a:ext cx="839449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Architecture · data modeling · tradeoffs · hands-on CQL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41138"/>
            <a:ext cx="650223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 — ORIGIN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960166"/>
            <a:ext cx="5892653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Why ScyllaDB exists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712641"/>
            <a:ext cx="589265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Some workloads need scale-out throughput without giving up predictable response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413522"/>
            <a:ext cx="1944440" cy="19050"/>
          </a:xfrm>
          <a:prstGeom prst="roundRect">
            <a:avLst>
              <a:gd name="adj" fmla="val 49999"/>
            </a:avLst>
          </a:prstGeom>
          <a:solidFill>
            <a:srgbClr val="6E3A4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635772"/>
            <a:ext cx="5892653" cy="158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ScyllaDB is a distributed NoSQL wide-column database designed for data-intensive, low-latency workloads.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Founded in 2014 by Avi Kivity and Dor Laor’s team, building on experience with KVM and Cassandra’s scale-out architecture.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This case study asks when ScyllaDB is a better fit than a traditional relational DBMS such as MySQL.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2" y="0"/>
            <a:ext cx="5079873" cy="685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61023" y="6466086"/>
            <a:ext cx="6793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— DATA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data model is query-driven, not join-driven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Distributed NoSQL wide-column database with Cassandra-compatible CQL.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724646"/>
            <a:ext cx="7091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3B1621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2988443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Cluster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339902"/>
            <a:ext cx="251453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Distributed nodes share the workload.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8914" y="2724646"/>
            <a:ext cx="7091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3B1621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8914" y="2988443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Keyspace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8914" y="3339902"/>
            <a:ext cx="251453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Defines replication and placement policy.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48244" y="2724646"/>
            <a:ext cx="7091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3B1621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48244" y="2988443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Table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48244" y="3339902"/>
            <a:ext cx="251453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Stores one query-shaped access pattern.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67573" y="2724646"/>
            <a:ext cx="7091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3B1621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67573" y="2988443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Partition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067573" y="3339902"/>
            <a:ext cx="251453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Partition keys decide data placement.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585" y="3996333"/>
            <a:ext cx="5333867" cy="1578967"/>
          </a:xfrm>
          <a:prstGeom prst="roundRect">
            <a:avLst>
              <a:gd name="adj" fmla="val 724"/>
            </a:avLst>
          </a:prstGeom>
          <a:solidFill>
            <a:srgbClr val="3B1621"/>
          </a:solidFill>
          <a:ln/>
        </p:spPr>
      </p:sp>
      <p:sp>
        <p:nvSpPr>
          <p:cNvPr id="18" name="Text 16"/>
          <p:cNvSpPr/>
          <p:nvPr/>
        </p:nvSpPr>
        <p:spPr>
          <a:xfrm>
            <a:off x="838179" y="4225885"/>
            <a:ext cx="51052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INSIDE A PARTITION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8179" y="4497561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Rows + clustering columns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8179" y="4849019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Clustering keys define sort order and efficient access inside a partition.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48244" y="3996333"/>
            <a:ext cx="5333867" cy="1578967"/>
          </a:xfrm>
          <a:prstGeom prst="roundRect">
            <a:avLst>
              <a:gd name="adj" fmla="val 724"/>
            </a:avLst>
          </a:prstGeom>
          <a:solidFill>
            <a:srgbClr val="3B1621"/>
          </a:solidFill>
          <a:ln/>
        </p:spPr>
      </p:sp>
      <p:sp>
        <p:nvSpPr>
          <p:cNvPr id="22" name="Text 20"/>
          <p:cNvSpPr/>
          <p:nvPr/>
        </p:nvSpPr>
        <p:spPr>
          <a:xfrm>
            <a:off x="6476838" y="4225885"/>
            <a:ext cx="51052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BEST FIT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76838" y="4497561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Predictable access patterns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76838" y="4849019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High-volume reads and writes; time-series data, feeds, events, and globally distributed services.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0772"/>
            <a:ext cx="414525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—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0750"/>
            <a:ext cx="3535671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Architecture turns hardware into parallel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276475"/>
            <a:ext cx="3535671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request path makes the performance story visible: independent shards, replicated partitions and durable storage working together.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7864" y="609600"/>
            <a:ext cx="5595401" cy="2412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05786" y="903534"/>
            <a:ext cx="3077048" cy="13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Client Driver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05786" y="1463075"/>
            <a:ext cx="3077048" cy="13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Coordinator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05786" y="2017020"/>
            <a:ext cx="3077048" cy="13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Replica Shards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05786" y="2570966"/>
            <a:ext cx="3077048" cy="13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Commit Log &amp; SSTables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64326" y="3096478"/>
            <a:ext cx="652257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Client driver → coordinator → replicas → commit log/SSTables → response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5" y="4797499"/>
            <a:ext cx="264153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Shared-nothing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09585" y="5148957"/>
            <a:ext cx="264153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Homogeneous nodes distribute partitions and replicate data for availability.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75081" y="4673079"/>
            <a:ext cx="264153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Shard-per-core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775081" y="5024537"/>
            <a:ext cx="2641534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Each CPU core owns an independent slice of memory, network and storage, reducing locks and contention.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940576" y="4797499"/>
            <a:ext cx="264153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Tablet-based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940576" y="5148957"/>
            <a:ext cx="264153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Smaller data fragments can rebalance as topology and workload change.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— CAPABILITIES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capabilities beyond basic CRUD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1682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CQL handles the application surface; operational controls determine whether the system is trustworthy in production.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356346"/>
            <a:ext cx="5333867" cy="1863427"/>
          </a:xfrm>
          <a:prstGeom prst="roundRect">
            <a:avLst>
              <a:gd name="adj" fmla="val 613"/>
            </a:avLst>
          </a:prstGeom>
          <a:solidFill>
            <a:srgbClr val="3B1621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864618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CQL surface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8179" y="3216077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Schema definition, inserts, updates, deletes, filtering, collections, batches, and prepared statements.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2356346"/>
            <a:ext cx="5333867" cy="1863427"/>
          </a:xfrm>
          <a:prstGeom prst="roundRect">
            <a:avLst>
              <a:gd name="adj" fmla="val 613"/>
            </a:avLst>
          </a:prstGeom>
          <a:solidFill>
            <a:srgbClr val="3B1621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2864618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Consistency choices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76838" y="3216077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Replication factor and consistency levels let teams trade latency, availability, and read/write certainty.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5" y="4791273"/>
            <a:ext cx="5333867" cy="1863527"/>
          </a:xfrm>
          <a:prstGeom prst="roundRect">
            <a:avLst>
              <a:gd name="adj" fmla="val 613"/>
            </a:avLst>
          </a:prstGeom>
          <a:solidFill>
            <a:srgbClr val="3B1621"/>
          </a:solidFill>
          <a:ln/>
        </p:spPr>
      </p:sp>
      <p:sp>
        <p:nvSpPr>
          <p:cNvPr id="12" name="Text 10"/>
          <p:cNvSpPr/>
          <p:nvPr/>
        </p:nvSpPr>
        <p:spPr>
          <a:xfrm>
            <a:off x="838179" y="5299546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Conditional state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8179" y="5651004"/>
            <a:ext cx="487667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Lightweight transactions use IF conditions to provide linearizable, conditional updates when a state check is required.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244" y="4791273"/>
            <a:ext cx="5333867" cy="1863527"/>
          </a:xfrm>
          <a:prstGeom prst="roundRect">
            <a:avLst>
              <a:gd name="adj" fmla="val 613"/>
            </a:avLst>
          </a:prstGeom>
          <a:solidFill>
            <a:srgbClr val="3B1621"/>
          </a:solidFill>
          <a:ln/>
        </p:spPr>
      </p:sp>
      <p:sp>
        <p:nvSpPr>
          <p:cNvPr id="15" name="Text 13"/>
          <p:cNvSpPr/>
          <p:nvPr/>
        </p:nvSpPr>
        <p:spPr>
          <a:xfrm>
            <a:off x="6476838" y="5299546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Operational trust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76838" y="5651004"/>
            <a:ext cx="487667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Authentication, authorization, TLS, backups, repair, monitoring, and drivers are operational features, not afterthoughts.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09825" y="2089646"/>
            <a:ext cx="533387" cy="533400"/>
          </a:xfrm>
          <a:prstGeom prst="ellipse">
            <a:avLst/>
          </a:prstGeom>
          <a:solidFill>
            <a:srgbClr val="3B1621"/>
          </a:solidFill>
          <a:ln w="19050">
            <a:solidFill>
              <a:srgbClr val="542F3A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2221" y="2242046"/>
            <a:ext cx="228594" cy="2286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648484" y="2089646"/>
            <a:ext cx="533387" cy="533400"/>
          </a:xfrm>
          <a:prstGeom prst="ellipse">
            <a:avLst/>
          </a:prstGeom>
          <a:solidFill>
            <a:srgbClr val="3B1621"/>
          </a:solidFill>
          <a:ln w="19050">
            <a:solidFill>
              <a:srgbClr val="542F3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880" y="2242046"/>
            <a:ext cx="228594" cy="2286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3009825" y="4524573"/>
            <a:ext cx="533387" cy="533400"/>
          </a:xfrm>
          <a:prstGeom prst="ellipse">
            <a:avLst/>
          </a:prstGeom>
          <a:solidFill>
            <a:srgbClr val="3B1621"/>
          </a:solidFill>
          <a:ln w="19050">
            <a:solidFill>
              <a:srgbClr val="542F3A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221" y="4689673"/>
            <a:ext cx="228594" cy="2032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648484" y="4524573"/>
            <a:ext cx="533387" cy="533400"/>
          </a:xfrm>
          <a:prstGeom prst="ellipse">
            <a:avLst/>
          </a:prstGeom>
          <a:solidFill>
            <a:srgbClr val="3B1621"/>
          </a:solidFill>
          <a:ln w="19050">
            <a:solidFill>
              <a:srgbClr val="542F3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880" y="4676973"/>
            <a:ext cx="228594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40095"/>
            <a:ext cx="533386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— DECISION FRAME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521317"/>
            <a:ext cx="5333867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ScyllaDB vs MySQL: different optimization targets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570559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right choice follows the workload, not a generic “SQL versus NoSQL” ranking.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3173016"/>
            <a:ext cx="5333867" cy="1951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MySQL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— relational tables, joins, flexible ad hoc SQL, normalized schemas, and strong transactional workflows.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ScyllaDB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— denormalized query tables, partition-key access, horizontal scale, replication, and predictable high-throughput paths.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ScyllaDB usually avoids cross-partition joins; model the queries first and duplicate data deliberately when needed.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239143"/>
          <a:ext cx="5333867" cy="914400"/>
        </p:xfrm>
        <a:graphic>
          <a:graphicData uri="http://schemas.openxmlformats.org/drawingml/2006/table">
            <a:tbl>
              <a:tblPr/>
              <a:tblGrid>
                <a:gridCol w="1110692"/>
                <a:gridCol w="2109996"/>
                <a:gridCol w="2113179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Dimension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ScyllaDB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MySQL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Model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Wide-column / distributed NoSQL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Relational SQL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9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Scaling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Horizontal scale-out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Primarily vertical; replicas and sharding available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Joins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Limited / model around queries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First-class relational joins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Best fit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High-volume predictable access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Flexible transactional applications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48244" y="4581783"/>
            <a:ext cx="533386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DECISION RULE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48244" y="4872236"/>
            <a:ext cx="533386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Choose MySQL for relationship-heavy business transactions; choose ScyllaDB for scale-out workloads with known access patterns and strict latency goals.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— PERFORMANCE LEVERS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1774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Strengths, limits, and performance levers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94036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Predictability is earned through disciplined modeling and operations.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901627"/>
            <a:ext cx="5333867" cy="4346773"/>
          </a:xfrm>
          <a:prstGeom prst="roundRect">
            <a:avLst>
              <a:gd name="adj" fmla="val 263"/>
            </a:avLst>
          </a:prstGeom>
          <a:noFill/>
          <a:ln w="19050">
            <a:solidFill>
              <a:srgbClr val="54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229" y="2150229"/>
            <a:ext cx="508622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7229" y="2440682"/>
            <a:ext cx="4838579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Low and predictable latency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Efficient hardware use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Horizontal scaling and fault tolerance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Cassandra compatibility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7229" y="3675122"/>
            <a:ext cx="508622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LIMITS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7229" y="3965575"/>
            <a:ext cx="4838579" cy="1333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Query-driven modeling and fewer relational conveniences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Operational learning curve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Poor fit for arbitrary joins or frequently changing access patterns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8244" y="1901627"/>
            <a:ext cx="5333867" cy="4346773"/>
          </a:xfrm>
          <a:prstGeom prst="roundRect">
            <a:avLst>
              <a:gd name="adj" fmla="val 263"/>
            </a:avLst>
          </a:prstGeom>
          <a:noFill/>
          <a:ln w="19050">
            <a:solidFill>
              <a:srgbClr val="54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5887" y="2150229"/>
            <a:ext cx="508622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PERFORMANCE LEVERS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5887" y="2440682"/>
            <a:ext cx="4838579" cy="2372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Partition size and key distribution matter; avoid hot partitions.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Consistency level affects latency, availability, and read/write certainty.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Compaction strategy and driver awareness shape performance.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ScyllaDB’s shard-per-core approach aims for linear scaling as cores are added, while its integrated cache reduces dependence on an external cache.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447544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— APPLICATION FIT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386586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Where ScyllaDB earns its place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3587055"/>
            <a:ext cx="3865863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Case-study lens: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not “NoSQL is always faster”; match access patterns; test whether the latency target stays stable as volume and nodes grow, without continually adding layers.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4785618"/>
            <a:ext cx="1275723" cy="19050"/>
          </a:xfrm>
          <a:prstGeom prst="roundRect">
            <a:avLst>
              <a:gd name="adj" fmla="val 49999"/>
            </a:avLst>
          </a:prstGeom>
          <a:solidFill>
            <a:srgbClr val="6E3A4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5007868"/>
            <a:ext cx="3865863" cy="1402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ScyllaDB highlights adoption by Discord, Disney+, Expedia, Zillow, Palo Alto Networks and Tripadvisor.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Other fits include observability and high-volume event workloads.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1706" y="609600"/>
            <a:ext cx="5430404" cy="25502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78724" y="2481647"/>
            <a:ext cx="1462009" cy="135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Real-time Messaging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278724" y="2674146"/>
            <a:ext cx="1462009" cy="13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user timeline by user_id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031096" y="2066215"/>
            <a:ext cx="1423996" cy="135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Gaming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031096" y="2258714"/>
            <a:ext cx="1423996" cy="13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events by tenant and timestamp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278724" y="1688796"/>
            <a:ext cx="1462009" cy="135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 Feeds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78724" y="1881295"/>
            <a:ext cx="1462009" cy="13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user timeline by user_id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0031096" y="1240781"/>
            <a:ext cx="1423996" cy="135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Fraud Signals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031096" y="1433280"/>
            <a:ext cx="1423996" cy="13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events by tenant and timestamp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278724" y="829195"/>
            <a:ext cx="1462009" cy="135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IoT Telemetry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278724" y="1021695"/>
            <a:ext cx="1462009" cy="266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telemetry by device and time bucket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408423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— HANDS-ON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3474653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Hands-on demo: a ScyllaDB Cloud workflow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4222055"/>
            <a:ext cx="347465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short path from managed cluster to observed query behavior.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60497" y="609600"/>
            <a:ext cx="5821614" cy="2666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Provision.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Create a ScyllaDB Cloud free-tier or classroom cluster and note the region, endpoint, credentials, and connection method.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Connect.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Open CQL in the cloud console or connect with cqlsh / a language driver.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Configure.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Create a keyspace with NetworkTopologyStrategy and a small replication factor for the demonstration.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Set the scenario.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Use a student activity feed where reads are organized by student and time.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Show the flow.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Move from setup to schema to data to queries to a brief performance observation.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spc="60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— DEMO SCHEMA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70024"/>
            <a:ext cx="10972526" cy="426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5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Demo schema: model the read path first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609585" y="1432346"/>
            <a:ext cx="109725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What is the newest activity for this student?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2032794"/>
            <a:ext cx="426709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spc="60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SCHEMA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585" y="2283889"/>
            <a:ext cx="4267093" cy="226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campus_app → activity_by_student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2615902"/>
            <a:ext cx="4267093" cy="29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Keyspace: NetworkTopologyStrategy with a small demonstration replication factor.</a:t>
            </a:r>
            <a:endParaRPr lang="en-US" sz="1350" dirty="0"/>
          </a:p>
          <a:p>
            <a:pPr algn="l" indent="0" marL="0">
              <a:lnSpc>
                <a:spcPct val="114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Columns: student_id, event_time, event_type, course_code, details.</a:t>
            </a:r>
            <a:endParaRPr lang="en-US" sz="1350" dirty="0"/>
          </a:p>
          <a:p>
            <a:pPr algn="l" indent="0" marL="0">
              <a:lnSpc>
                <a:spcPct val="114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Primary key: ((student_id), event_time); DESC clustering order returns the newest activity first.</a:t>
            </a:r>
            <a:endParaRPr lang="en-US" sz="1350" dirty="0"/>
          </a:p>
          <a:p>
            <a:pPr algn="l" indent="0" marL="0">
              <a:lnSpc>
                <a:spcPct val="114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Demo flow: CREATE KEYSPACE → CREATE TABLE → INSERT → SELECT by partition key → UPDATE / DELETE.</a:t>
            </a:r>
            <a:endParaRPr lang="en-US" sz="13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query without </a:t>
            </a:r>
            <a:pPr algn="l"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student_id</a:t>
            </a:r>
            <a:pPr algn="l"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is not the intended access pattern.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181371" y="1804194"/>
            <a:ext cx="6400739" cy="5057080"/>
          </a:xfrm>
          <a:prstGeom prst="roundRect">
            <a:avLst>
              <a:gd name="adj" fmla="val 226"/>
            </a:avLst>
          </a:prstGeom>
          <a:solidFill>
            <a:srgbClr val="3B1621"/>
          </a:solidFill>
          <a:ln/>
        </p:spPr>
      </p:sp>
      <p:sp>
        <p:nvSpPr>
          <p:cNvPr id="9" name="Text 7"/>
          <p:cNvSpPr/>
          <p:nvPr/>
        </p:nvSpPr>
        <p:spPr>
          <a:xfrm>
            <a:off x="5409965" y="2032794"/>
            <a:ext cx="61721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spc="60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CQL · READ PATH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09965" y="2397820"/>
            <a:ext cx="5943551" cy="3869829"/>
          </a:xfrm>
          <a:prstGeom prst="roundRect">
            <a:avLst>
              <a:gd name="adj" fmla="val 295"/>
            </a:avLst>
          </a:prstGeom>
          <a:solidFill>
            <a:srgbClr val="48232E"/>
          </a:solidFill>
          <a:ln/>
        </p:spPr>
      </p:sp>
      <p:sp>
        <p:nvSpPr>
          <p:cNvPr id="11" name="Text 9"/>
          <p:cNvSpPr/>
          <p:nvPr/>
        </p:nvSpPr>
        <p:spPr>
          <a:xfrm>
            <a:off x="5613656" y="2567583"/>
            <a:ext cx="5536169" cy="3530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campus_app.activity_by_student (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student_id text, event_time timestamp,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event_type text, course_code text, details text,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((student_id), event_time)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WITH CLUSTERING ORDER BY (event_time DESC);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activity_by_student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(student_id, event_time, event_type, course_code, details)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('s123', toTimestamp(now()), 'assignment_submitted',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'DBMS-201', 'ScyllaDB case study');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campus_app.activity_by_student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student_id = 's123';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09965" y="6458545"/>
            <a:ext cx="61721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Demonstrate UPDATE and DELETE by the same partition key.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74501" y="6466086"/>
            <a:ext cx="3171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 — STORAGE ENGINE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Writes stay sequential; reads merge memory and SSTables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ScyllaDB uses a log-structured merge tree, so writes are cheap and reads stay bounded by Bloom filters and compaction.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737618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Write path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3089077"/>
            <a:ext cx="5333867" cy="1626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Commit log: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sequential append for durability.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Memtable: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the write is applied in memory.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SSTable flush: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a full memtable becomes an immutable file on disk.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Compaction: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background merges drop tombstones and expired data.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48244" y="2737618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Read path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48244" y="3089077"/>
            <a:ext cx="5333867" cy="1377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Cache and memtable: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check the row cache and in-memory data first.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Bloom filters: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skip any SSTable that cannot hold the key.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Partition index: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locate the partition in the remaining files.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Merge: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keep the latest timestamp per column across sources.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585" y="487517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ScyllaDB manages its own cache and bypasses the Linux page cache, avoiding double caching. Source: ScyllaDB case-study reference, section 3.2.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74501" y="6466086"/>
            <a:ext cx="3171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 — CONSISTENCY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Quorum overlap gives strong reads, but there are no multi-table ACID transactions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952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Consistency is tuned per query; atomicity holds per partition, and cross-table work moves into the application.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359646"/>
          <a:ext cx="5333867" cy="914400"/>
        </p:xfrm>
        <a:graphic>
          <a:graphicData uri="http://schemas.openxmlformats.org/drawingml/2006/table">
            <a:tbl>
              <a:tblPr/>
              <a:tblGrid>
                <a:gridCol w="1642865"/>
                <a:gridCol w="3691002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Level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Meaning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ONE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Fastest; one replica answers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QUORUM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Majority of replicas across the cluster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LOCAL_QUORUM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Majority within the local datacenter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ALL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Every replica; lowest availability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458083"/>
            <a:ext cx="533386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Latency order: ONE is faster than QUORUM, which is faster than ALL. Source: ScyllaDB case-study reference, section 3.5.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48244" y="3372618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RF=3 with QUORUM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48244" y="3724077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RF=3, read 2 + write 2 = 4; a QUORUM read overlaps the latest successful write.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48244" y="4393480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Lightweight transactions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248244" y="4744938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Paxos compare-and-set (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IF NOT EXISTS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IF col = value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) is several times slower; reserve it for critical checks such as checkout.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48244" y="5414342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What is not there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248244" y="5765800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Batches are atomic, not isolated. No multi-table or multi-partition ACID rollback; the application keeps denormalized tables in sync.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874501" y="6466086"/>
            <a:ext cx="3171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18"/>
            <a:ext cx="11582110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48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12 — HANDS-ON DEMO · SETUP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09585" y="822513"/>
            <a:ext cx="10972526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Start one node in Docker, then design tables from four queries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1849608"/>
            <a:ext cx="5333867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 · Install and check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585" y="2175570"/>
            <a:ext cx="5333867" cy="1133872"/>
          </a:xfrm>
          <a:prstGeom prst="roundRect">
            <a:avLst>
              <a:gd name="adj" fmla="val 1008"/>
            </a:avLst>
          </a:prstGeom>
          <a:solidFill>
            <a:srgbClr val="48232E"/>
          </a:solidFill>
          <a:ln/>
        </p:spPr>
      </p:sp>
      <p:sp>
        <p:nvSpPr>
          <p:cNvPr id="6" name="Text 4"/>
          <p:cNvSpPr/>
          <p:nvPr/>
        </p:nvSpPr>
        <p:spPr>
          <a:xfrm>
            <a:off x="771605" y="2310507"/>
            <a:ext cx="5009826" cy="863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--name scylla -d scylladb/scylla \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--smp 1 --memory 750M --overprovisioned 1 --api-address 0.0.0.0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scylla nodetool status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scylla cqlsh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585" y="3468264"/>
            <a:ext cx="5333867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Wait about 30 to 60 seconds for UN (Up/Normal). On Windows, use Docker Desktop with WSL2 and at least 4 GB RAM. For a 3-node cluster, add two more containers.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48244" y="1849608"/>
            <a:ext cx="5333867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2 · Query-driven tables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48244" y="2102939"/>
            <a:ext cx="5333867" cy="332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Four questions drive the design: book by ID, books by author, member loans newest first, and books by genre.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48244" y="2496813"/>
            <a:ext cx="5333867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SimpleStrategy is for the demo only; use NetworkTopologyStrategy in production.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248244" y="2766516"/>
            <a:ext cx="5333867" cy="3941862"/>
          </a:xfrm>
          <a:prstGeom prst="roundRect">
            <a:avLst>
              <a:gd name="adj" fmla="val 290"/>
            </a:avLst>
          </a:prstGeom>
          <a:solidFill>
            <a:srgbClr val="4823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10264" y="2901454"/>
            <a:ext cx="5009826" cy="3671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KEYSPACE library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replication = {'class': 'SimpleStrategy', 'replication_factor': 1};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library;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books (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book_id uuid PRIMARY KEY, title text, author text,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genre text, isbn text, copies_available int);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books_by_author (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 text, title text, book_id uuid,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((author), title));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loans_by_member (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member_id int, loan_date timestamp, book_id uuid,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due_date timestamp, returned boolean,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((member_id), loan_date))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CLUSTERING ORDER BY (loan_date DESC);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74501" y="6466086"/>
            <a:ext cx="3171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877"/>
            <a:ext cx="11582110" cy="14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54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13 — HANDS-ON DEMO · OPERATIONS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863476"/>
            <a:ext cx="10972526" cy="108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CRUD, TTL, and LWT run on these tables; JOINs need a different design</a:t>
            </a:r>
            <a:endParaRPr lang="en-US" sz="4250" dirty="0"/>
          </a:p>
        </p:txBody>
      </p:sp>
      <p:sp>
        <p:nvSpPr>
          <p:cNvPr id="4" name="Text 2"/>
          <p:cNvSpPr/>
          <p:nvPr/>
        </p:nvSpPr>
        <p:spPr>
          <a:xfrm>
            <a:off x="609585" y="2029615"/>
            <a:ext cx="5333867" cy="20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CRUD, TTL, and LWT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585" y="2393553"/>
            <a:ext cx="5333867" cy="2969121"/>
          </a:xfrm>
          <a:prstGeom prst="roundRect">
            <a:avLst>
              <a:gd name="adj" fmla="val 385"/>
            </a:avLst>
          </a:prstGeom>
          <a:solidFill>
            <a:srgbClr val="48232E"/>
          </a:solidFill>
          <a:ln/>
        </p:spPr>
      </p:sp>
      <p:sp>
        <p:nvSpPr>
          <p:cNvPr id="6" name="Text 4"/>
          <p:cNvSpPr/>
          <p:nvPr/>
        </p:nvSpPr>
        <p:spPr>
          <a:xfrm>
            <a:off x="791349" y="2544961"/>
            <a:ext cx="4970338" cy="2666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books (book_id, title, author, genre, isbn, copies_available)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(11111111-1111-1111-1111-111111111111, 'Database System Concepts', 'Silberschatz', 'Databases', '9780078022159', 5);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books_by_author WHERE author = 'Elmasri';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books SET copies_available = 4 WHERE book_id = 11111111-1111-1111-1111-111111111111;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books SET copies_available = 2 WHERE book_id = 22222222-2222-2222-2222-222222222222 IF copies_available = 3;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members (member_id, name, email) VALUES (999, 'Temp', 't@x.com') USING TTL 60;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5" y="5541760"/>
            <a:ext cx="5333867" cy="20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failed JOIN and the fix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5" y="5905698"/>
            <a:ext cx="5333867" cy="787598"/>
          </a:xfrm>
          <a:prstGeom prst="roundRect">
            <a:avLst>
              <a:gd name="adj" fmla="val 1451"/>
            </a:avLst>
          </a:prstGeom>
          <a:solidFill>
            <a:srgbClr val="48232E"/>
          </a:solidFill>
          <a:ln/>
        </p:spPr>
      </p:sp>
      <p:sp>
        <p:nvSpPr>
          <p:cNvPr id="9" name="Text 7"/>
          <p:cNvSpPr/>
          <p:nvPr/>
        </p:nvSpPr>
        <p:spPr>
          <a:xfrm>
            <a:off x="791349" y="6057106"/>
            <a:ext cx="4970338" cy="484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loans_by_member l JOIN books b ON l.book_id = b.book_id;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48244" y="2029615"/>
            <a:ext cx="5333867" cy="20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Side by side with MySQL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2315369"/>
          <a:ext cx="5333867" cy="914400"/>
        </p:xfrm>
        <a:graphic>
          <a:graphicData uri="http://schemas.openxmlformats.org/drawingml/2006/table">
            <a:tbl>
              <a:tblPr/>
              <a:tblGrid>
                <a:gridCol w="1386774"/>
                <a:gridCol w="1813427"/>
                <a:gridCol w="2133666"/>
              </a:tblGrid>
              <a:tr h="3237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Task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MySQL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ScyllaDB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Loans with title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One JOIN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Denormalized title in loans_by_member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Books by author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Index and query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Dedicated books_by_author table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7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References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FOREIGN KEY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Application responsibility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Expiring rows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Scheduled cleanup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USING TTL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13612" marR="113612" marT="60593" marB="60593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248244" y="4457101"/>
            <a:ext cx="5333867" cy="20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fix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248244" y="4746145"/>
            <a:ext cx="5333867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Denormalize title into loans_by_member, or run two queries in the application.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48244" y="5016487"/>
            <a:ext cx="5333867" cy="294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Build the same library in MySQL with foreign keys and run the JOIN, then compare with the query-specific tables. Source: ScyllaDB case-study reference, sections 5 and 7.2.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874501" y="6466086"/>
            <a:ext cx="3171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14 — PERFORMANCE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Measure your own workload; vendor numbers are claims to verify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30028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What moves latency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2681486"/>
            <a:ext cx="5333867" cy="221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Partition size: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keep partitions to tens to a few hundred MB; bucket unbounded time series.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Hot partitions: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spread load across keys.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Consistency: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ONE is faster than QUORUM, which is faster than ALL.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Tombstones and TTL: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heavy deletes slow reads.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Indexes and views: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add write overhead.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BF3E6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LWT: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several times slower than regular writes.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244" y="2330028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Vendor-reported claims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48244" y="2681486"/>
            <a:ext cx="5333867" cy="1937544"/>
          </a:xfrm>
          <a:prstGeom prst="roundRect">
            <a:avLst>
              <a:gd name="adj" fmla="val 590"/>
            </a:avLst>
          </a:prstGeom>
          <a:solidFill>
            <a:srgbClr val="5D233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039" y="2932311"/>
            <a:ext cx="222244" cy="177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26079" y="2903736"/>
            <a:ext cx="4578235" cy="1493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ScyllaDB material reports millions of operations per second per node and single-digit-millisecond p99 latency. These are vendor-reported; cite the source and test setup. Discord's engineering blog reports a large cluster reduction and steadier reads; pull exact figures from the original post.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48244" y="4790752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 fair test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248244" y="5142210"/>
            <a:ext cx="5333867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Run an identical workload on MySQL and ScyllaDB, for example 100k inserts and key lookups, and report latency and throughput honestly.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cassandra-stress, scylla-bench, or YCSB; benchmark a cluster.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874501" y="6466086"/>
            <a:ext cx="3171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15 — 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Recent releases push toward elastic, multi-model, Raft-backed data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Release details reflect information current to October 2026; verify versions and feature status in the release notes before presenting.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724646"/>
          <a:ext cx="10972526" cy="914400"/>
        </p:xfrm>
        <a:graphic>
          <a:graphicData uri="http://schemas.openxmlformats.org/drawingml/2006/table">
            <a:tbl>
              <a:tblPr/>
              <a:tblGrid>
                <a:gridCol w="1975003"/>
                <a:gridCol w="5705686"/>
                <a:gridCol w="3291837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Release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Highlights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Status notes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2026.1 (LTS)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Vector search filtering and quantization; tablets recommended for new clusters; counters on tablets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Long-term support line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9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2026.2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Alternator Streams (DynamoDB Streams-compatible); per-row TTL; trie-based SSTable index; SAI-style vector index definitions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Alternator Streams GA; strongly consistent tables and vNode-to-tablet migration experimental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2026.3 (Sept 2026)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Full-text search; object-storage backend; Oracle Cloud support; role-based audit rules; wider Raft use for data consistency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BF3E6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Object-storage backend in preview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487168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Broader trends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09585" y="5838627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AI and vector search, elastic cloud-native scaling with tablets and object storage, Raft-based consistency, and multi-cloud support.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48244" y="5487168"/>
            <a:ext cx="53338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Check before you commit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48244" y="5838627"/>
            <a:ext cx="533386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Confirm the license terms: ScyllaDB moved to a source-available license in late 2024. Some features are enterprise or cloud only. Source: ScyllaDB case-study reference, section 9.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874501" y="6466086"/>
            <a:ext cx="3171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16 — REFERENCES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Sources behind this case study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1682055"/>
            <a:ext cx="10972526" cy="2888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ScyllaDB Documentation: docs.scylladb.com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ScyllaDB University (free courses): university.scylladb.com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ScyllaDB release notes and blog: scylladb.com/blog and forum.scylladb.com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Seastar framework: seastar.io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Discord Engineering Blog, “How Discord Stores Trillions of Messages”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Apache Cassandra documentation (CQL reference): cassandra.apache.org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DeCandia et al., “Dynamo: Amazon’s Highly Available Key-value Store” (SOSP 2007)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Chang et al., “Bigtable: A Distributed Storage System for Structured Data” (OSDI 2006)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Lakshman and Malik, “Cassandra: A Decentralized Structured Storage System” (2010)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MySQL Reference Manual: dev.mysql.com/doc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4730214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Vendor-reported figures are from ScyllaDB material and should be verified against the cited source before use.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7895" y="6466086"/>
            <a:ext cx="888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74501" y="6466086"/>
            <a:ext cx="3171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2026-10-13T14:08:57Z</dcterms:created>
  <dcterms:modified xsi:type="dcterms:W3CDTF">2026-10-13T14:08:57Z</dcterms:modified>
</cp:coreProperties>
</file>